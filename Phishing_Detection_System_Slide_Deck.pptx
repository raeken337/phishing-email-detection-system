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7261" autoAdjust="0"/>
  </p:normalViewPr>
  <p:slideViewPr>
    <p:cSldViewPr snapToGrid="0">
      <p:cViewPr>
        <p:scale>
          <a:sx n="100" d="100"/>
          <a:sy n="100" d="100"/>
        </p:scale>
        <p:origin x="1452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3F227-532E-4802-8597-09794FA93AD3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D0A40-5D96-4B24-9D57-485F177E2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1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speaker note:</a:t>
            </a:r>
          </a:p>
          <a:p>
            <a:endParaRPr lang="en-GB" dirty="0"/>
          </a:p>
          <a:p>
            <a:r>
              <a:rPr lang="en-GB" dirty="0"/>
              <a:t>“This project focuses on using machine learning as a decision-support tool for phishing detection, not as a complete replacement for human judgement.”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365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CD8A-2F59-2ED0-BFC8-F304F33A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CD6EB-996F-2A9F-41F5-A79C4D699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93AF9-C113-F811-B092-F35E3A7D9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6FE75-E5F4-3070-E0D3-09B5F764F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412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F0BB-03D4-B175-8907-48A9B071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D26BA-390C-1DFE-C573-A0B75AE9D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BCBDF-5D16-6E26-2832-0B839C887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7EE4A-CCE7-ACF5-F919-EB3323996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312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DC90-2C40-F90B-39C5-241ECF2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C3F28-EF8F-7BEA-E034-2036277E9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F0096-064A-CC96-8913-EF46FA8FE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DBA0D-3769-EEAD-E0DF-705F40654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47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2B7E-CBC9-1C8E-A4B6-4AB935EA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FBFEF-E818-70AF-FFAC-231D5592D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03FC3-2B58-65D4-2233-84E1A61FA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71AE9-1019-0CD0-1D3A-2E8375739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576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2A2A-94AF-C4DC-81A8-2C8825B5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E1F70-1457-EB39-D65C-CC6BA629F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6DD26-0307-949F-6F8A-24339DE7B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9F554-C686-944E-0437-D4396DD69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9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A7AB-53FE-2749-82E7-9469EB64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71B53-4F51-24D4-7E2F-7EBEAFF3D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E1EB-3072-D944-CB75-19666166E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0A42C-2F8C-5E96-BC4E-4DB1F50C6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59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7D6C-4D10-121A-185C-71E1B554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BE9BF-2514-223A-1F76-3BF50588E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30133-7C5F-187B-5893-5362E2F17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64C4-E2AF-836D-D884-C5060955B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977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8109-6E36-DB53-845A-82EFA57A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46925-1EA7-C56D-E913-3BBC72C77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702C9-2430-B917-879C-3787147A7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7B9FA-1A99-4BCD-BBB0-AD44A5074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770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B2B7-406F-40F4-45BE-C939CCDB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CFE6C-A6E9-FDD3-6506-3EF3D7A72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9523E-03B1-97FD-2E62-7EC129227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A8D63-0E5D-DA19-976F-F372CA88A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41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15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60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74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24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30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7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0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01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33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22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501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79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166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176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061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25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98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7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D4B8-D55C-87A1-5744-EB30E5C63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327" y="524656"/>
            <a:ext cx="8584491" cy="4335418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Analysis of a Phishing Detection System Using Natural Language Patterns and Machine Learning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B43D3E-D32B-47CD-4B89-7C70FC3294CC}"/>
              </a:ext>
            </a:extLst>
          </p:cNvPr>
          <p:cNvSpPr txBox="1">
            <a:spLocks/>
          </p:cNvSpPr>
          <p:nvPr/>
        </p:nvSpPr>
        <p:spPr>
          <a:xfrm>
            <a:off x="6765560" y="5010463"/>
            <a:ext cx="4367259" cy="53915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Bilal Ahmed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5CF1F2-CBA9-30F8-211F-8143A7620D58}"/>
              </a:ext>
            </a:extLst>
          </p:cNvPr>
          <p:cNvSpPr txBox="1">
            <a:spLocks/>
          </p:cNvSpPr>
          <p:nvPr/>
        </p:nvSpPr>
        <p:spPr>
          <a:xfrm>
            <a:off x="6917960" y="5431437"/>
            <a:ext cx="4367259" cy="53915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23663705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43DF57-60DA-3465-E868-75AB7500460B}"/>
              </a:ext>
            </a:extLst>
          </p:cNvPr>
          <p:cNvSpPr txBox="1">
            <a:spLocks/>
          </p:cNvSpPr>
          <p:nvPr/>
        </p:nvSpPr>
        <p:spPr>
          <a:xfrm>
            <a:off x="6917960" y="5970596"/>
            <a:ext cx="4367259" cy="53915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64382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2605-57A8-9DE3-80E1-B5222CF2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GB" dirty="0"/>
              <a:t> Aim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2DBDE-A77F-BE61-9226-9BFE10A06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0199"/>
            <a:ext cx="10018713" cy="490553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and evaluate a phishing email detection system using Natural Language Processing and Machine Learning.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emails are a serious cybersecurity threat because they attempt to deceive users into clicking malicious links, opening unsafe attachments, or revealing sensitive information such as login details or financial data.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classify email text as either phishing or legitimate, while also providing supporting evidence such as suspicious indicators, URL/email detection, confidence interpretation, and recommended user actions.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31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6427-82E7-AAC4-E8BB-2827404E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27C9-4958-F65B-EE42-C2F84383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322F4-1F56-CB7D-85DA-36F25774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0199"/>
            <a:ext cx="10018713" cy="490553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email text is passed through a machine learning pipeline: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Email → Text Cleaning → TF-IDF Vectorisation → Linear SVM Model → Prediction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email text is first cleaned to remove noise such as URLs, email addresses, numbers, punctuation, and extra spacing.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text is then converted into numerical TF-IDF features so the machine learning model can analyse word importance patterns.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Linear SVM model uses these features to classify the email as either phishing or legitimate.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99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CAE3E-8540-B514-0C8B-A5399E2D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CABF-D1C9-14F5-70E7-FE04C5CD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C0AB-0B75-8867-5DC5-AF05BBA6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603947"/>
            <a:ext cx="10018713" cy="4901784"/>
          </a:xfrm>
        </p:spPr>
        <p:txBody>
          <a:bodyPr>
            <a:normAutofit fontScale="625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labelled email text examples used to train and test the phishing detection model.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email is labelled as either: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Emails designed to trick users into clicking malicious links, revealing personal details, or trusting impersonated senders.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email messages that do not show phishing behaviour.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training, the email text is cleaned using the same pre-processing steps used in the final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all text to lowercase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URLs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email addresses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numbers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punctuation and special characters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extra whitespace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dataset more consistent and helps the model focus on meaningful language patterns rather than messy formatting.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4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9B72-8B26-9D15-F9B0-16DEBE77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3EC4-63F3-BC09-057B-20B2FC9C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3914-EE40-EFED-6EC2-24C493BA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0199"/>
            <a:ext cx="10018713" cy="4905532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machine learning models were tested to compare performance and choose the most effective classifier for phishing detection.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tested were: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Support Vector Machine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followed the same main pipeline: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text → cleaning → TF-IDF vectorisation → model training → evaluation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testing, Linear SVM was selected as the final model because it produced the strongest overall performance across the evaluation metrics.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especially suitable because Linear SVM works well with high-dimensional text data produced by TF-IDF, making it a strong choice for email classification.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54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56080-8A3C-B17A-0798-BE7F937E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F8D5C46-63E5-40C5-A208-4B2189FA1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A42B4ED-376E-46C3-8BB2-EAFC660D1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4E0795D-42C3-4DFD-AEB0-286A1CF14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2ACED1B-99D0-4C14-B63B-963889DCD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5C5D324F-33A3-4C66-BFE5-1742CA4E5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C572FC8-A465-4BA3-BA4D-2EC538C04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6CC2B15-8E3B-4CFF-99E4-5B4E4D8CF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71604F-A12D-F37C-EA6E-15468131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-9523"/>
            <a:ext cx="4278928" cy="1752599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E7ED1-4984-654B-B27D-37C39B9B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52599"/>
            <a:ext cx="4278929" cy="4976733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was the strongest performer.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showed that the model correctly classified most phishing and legitimate emails.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number of phishing emails were misclassified as legitimate, which is important because false negatives are the highest-risk error in phishing detection.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selected: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SVM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A60C88-7443-4827-9241-5019758CB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997D7B-716A-00B7-8AE1-E2393BD93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63122"/>
              </p:ext>
            </p:extLst>
          </p:nvPr>
        </p:nvGraphicFramePr>
        <p:xfrm>
          <a:off x="6727282" y="1441079"/>
          <a:ext cx="4158404" cy="3688080"/>
        </p:xfrm>
        <a:graphic>
          <a:graphicData uri="http://schemas.openxmlformats.org/drawingml/2006/table">
            <a:tbl>
              <a:tblPr firstRow="1" bandRow="1"/>
              <a:tblGrid>
                <a:gridCol w="2300394">
                  <a:extLst>
                    <a:ext uri="{9D8B030D-6E8A-4147-A177-3AD203B41FA5}">
                      <a16:colId xmlns:a16="http://schemas.microsoft.com/office/drawing/2014/main" val="3554542293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366634709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Metric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Score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70394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Accuracy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0.9867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06863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Precision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0.9866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12588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Recall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0.9879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46170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F1-score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 dirty="0"/>
                        <a:t>0.9872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038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16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1CC6-21B1-9B0A-73F1-0C08828E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1573-D70F-1DE8-2EC0-9E101F56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FEE1-B03A-6760-D175-FC313B4ED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759" y="1107286"/>
            <a:ext cx="10018713" cy="160019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paste a single email text into the system.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the email as either Phishing or Legitimate.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decision score and risk interpretation to help the user understand model confidence.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suspicious indicators, influential model terms, and URL/email evidence.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50AFB7-3751-CA71-C9E3-38769B48AC4B}"/>
              </a:ext>
            </a:extLst>
          </p:cNvPr>
          <p:cNvSpPr txBox="1">
            <a:spLocks/>
          </p:cNvSpPr>
          <p:nvPr/>
        </p:nvSpPr>
        <p:spPr>
          <a:xfrm>
            <a:off x="1655759" y="2707485"/>
            <a:ext cx="9847263" cy="1600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Upload: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a CSV file containing multiple email texts.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each email in the file as Phishing or Legitimate.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predictions, decision scores, and risk interpretation for each email.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results as CSV for easy review.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90E77B-7E00-8D6D-2B40-2D3C0C72CD53}"/>
              </a:ext>
            </a:extLst>
          </p:cNvPr>
          <p:cNvSpPr txBox="1">
            <a:spLocks/>
          </p:cNvSpPr>
          <p:nvPr/>
        </p:nvSpPr>
        <p:spPr>
          <a:xfrm>
            <a:off x="1655759" y="4543423"/>
            <a:ext cx="10190163" cy="19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 Testing: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built-in edge cases to test the model on different types of email content.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short emails.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messages with subtle phrasing.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emails with suspicious terms. 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1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A3AB-4E4E-82F9-023C-5BCE2557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0A03-66C1-B4C3-02EE-245BFB2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674A-59C9-040E-DEB2-F9CCCEB2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759" y="1107285"/>
            <a:ext cx="5130052" cy="28631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Export: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download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report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 includes: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score.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interpretation.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 summary.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URL/email evidence.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Influential model terms.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and cleaned email text.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B238E1-9261-FC52-3940-88DA8FB6E86A}"/>
              </a:ext>
            </a:extLst>
          </p:cNvPr>
          <p:cNvSpPr txBox="1">
            <a:spLocks/>
          </p:cNvSpPr>
          <p:nvPr/>
        </p:nvSpPr>
        <p:spPr>
          <a:xfrm>
            <a:off x="1655760" y="3789764"/>
            <a:ext cx="5130052" cy="2394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checks for common phishing language patterns: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 language.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Account/login requests.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Threats/consequences.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language.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Link/attachment prompts.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Authority/impersonation language.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08F847-9601-1B4D-E79E-85775A70C472}"/>
              </a:ext>
            </a:extLst>
          </p:cNvPr>
          <p:cNvSpPr txBox="1">
            <a:spLocks/>
          </p:cNvSpPr>
          <p:nvPr/>
        </p:nvSpPr>
        <p:spPr>
          <a:xfrm>
            <a:off x="6957261" y="1339832"/>
            <a:ext cx="5130052" cy="2207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URL/Email Evidence: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URLs and email addresses from the original email text.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number of detected URLs and email addresses.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is shown separately for transparency, since URLs and emails are removed during pre-processing.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A26C1E-25B8-9E14-19FA-8E47C343E301}"/>
              </a:ext>
            </a:extLst>
          </p:cNvPr>
          <p:cNvSpPr txBox="1">
            <a:spLocks/>
          </p:cNvSpPr>
          <p:nvPr/>
        </p:nvSpPr>
        <p:spPr>
          <a:xfrm>
            <a:off x="6957261" y="4187796"/>
            <a:ext cx="5130052" cy="1398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work together to provide a comprehensive phishing email detection system with transparency, explanation, and robust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00439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3EED-0303-2CFB-6EBD-9F7314E4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7325-7C39-F50B-D7B0-5578565D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01511C-E981-9473-BE4D-71BD52EFEC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2" y="1952467"/>
            <a:ext cx="1058336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 phishing detection using a trained Linear SVM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emails as Phishing or Legitimate with high accuracy (Accuracy: 98.67%).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case testing ensures the model handles various email formats and content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 and URL/email evidence provide additional transparency and context to model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upload batch CSV files, analyze multiple emails at once, and export results. </a:t>
            </a:r>
          </a:p>
        </p:txBody>
      </p:sp>
    </p:spTree>
    <p:extLst>
      <p:ext uri="{BB962C8B-B14F-4D97-AF65-F5344CB8AC3E}">
        <p14:creationId xmlns:p14="http://schemas.microsoft.com/office/powerpoint/2010/main" val="2137902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182D-ACBE-C554-F94F-EB16CC52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35A7-CE77-F055-DA22-3E815924D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797621E-9E03-AB62-6A0B-7916E5C51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2" y="1549279"/>
            <a:ext cx="10583361" cy="339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on very short emails: Short emails may lack sufficient context, leading to less reliable predictions.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email header analysis: The system only processes the text content of the email and does not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headers, which could contain important clues.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attachment scanning or URL reputation checks: The system does not verify the legitimacy of attached files or perform real-time checks on URLs.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 Suspicious indicators might flag some legitimate emails due to the rule-based detection mechanism.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limitations: The model is trained on a specific dataset, which may not cover all possible phishing tactics or formats.</a:t>
            </a:r>
          </a:p>
        </p:txBody>
      </p:sp>
    </p:spTree>
    <p:extLst>
      <p:ext uri="{BB962C8B-B14F-4D97-AF65-F5344CB8AC3E}">
        <p14:creationId xmlns:p14="http://schemas.microsoft.com/office/powerpoint/2010/main" val="381551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E432-48FD-C656-5370-9CC87C49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7318-0060-0F3D-D034-4F144187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Outcomes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C5A2E9-42CE-599E-CB40-EA7D17437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0" y="1608292"/>
            <a:ext cx="10583361" cy="256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800" b="1" dirty="0"/>
              <a:t>Email Header Analysis</a:t>
            </a:r>
            <a:r>
              <a:rPr lang="en-GB" sz="1800" dirty="0"/>
              <a:t>: Incorporate analysis of email headers to improve phishing detection.</a:t>
            </a:r>
          </a:p>
          <a:p>
            <a:r>
              <a:rPr lang="en-GB" sz="1800" b="1" dirty="0"/>
              <a:t>URL Reputation Checks</a:t>
            </a:r>
            <a:r>
              <a:rPr lang="en-GB" sz="1800" dirty="0"/>
              <a:t>: Implement real-time URL reputation checks to validate links in emails</a:t>
            </a:r>
          </a:p>
          <a:p>
            <a:r>
              <a:rPr lang="en-GB" sz="1800" b="1" dirty="0"/>
              <a:t>Attachment Scanning</a:t>
            </a:r>
            <a:r>
              <a:rPr lang="en-GB" sz="1800" dirty="0"/>
              <a:t>: Add functionality for scanning attachments for potential threats (e.g., malware).</a:t>
            </a:r>
          </a:p>
          <a:p>
            <a:r>
              <a:rPr lang="en-GB" sz="1800" b="1" dirty="0"/>
              <a:t>Scalability</a:t>
            </a:r>
            <a:r>
              <a:rPr lang="en-GB" sz="1800" dirty="0"/>
              <a:t>: Optimize the system for larger datasets or high-volume use cases, such as enterprise-level email analysis.</a:t>
            </a:r>
          </a:p>
          <a:p>
            <a:r>
              <a:rPr lang="en-GB" sz="1800" b="1" dirty="0"/>
              <a:t>User Interface Enhancements</a:t>
            </a:r>
            <a:r>
              <a:rPr lang="en-GB" sz="1800" dirty="0"/>
              <a:t>: Improve the user interface to allow better interaction with the system and provide more detailed explanations of predictions.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B8F44-C458-F4E8-03E6-102E9C572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901" y="4313540"/>
            <a:ext cx="10583361" cy="146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/>
              <a:t>Model Improvements</a:t>
            </a:r>
            <a:r>
              <a:rPr lang="en-GB" sz="1800" dirty="0"/>
              <a:t>:</a:t>
            </a:r>
          </a:p>
          <a:p>
            <a:r>
              <a:rPr lang="en-GB" sz="1800" dirty="0"/>
              <a:t>Explore other machine learning models or hybrid approaches (e.g., combining rule-based systems with deep learning). </a:t>
            </a:r>
          </a:p>
          <a:p>
            <a:r>
              <a:rPr lang="en-GB" sz="1800" dirty="0"/>
              <a:t>Train the model on a larger, more diverse dataset to improve its robustness and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9150679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120</TotalTime>
  <Words>1143</Words>
  <Application>Microsoft Office PowerPoint</Application>
  <PresentationFormat>Widescreen</PresentationFormat>
  <Paragraphs>135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Corbel</vt:lpstr>
      <vt:lpstr>Times New Roman</vt:lpstr>
      <vt:lpstr>Parallax</vt:lpstr>
      <vt:lpstr>Development and Analysis of a Phishing Detection System Using Natural Language Patterns and Machine Learning</vt:lpstr>
      <vt:lpstr>Project Aim</vt:lpstr>
      <vt:lpstr>System Overview</vt:lpstr>
      <vt:lpstr>Dataset and Pre-processing</vt:lpstr>
      <vt:lpstr>Model Development</vt:lpstr>
      <vt:lpstr>Evaluation Results</vt:lpstr>
      <vt:lpstr>Application Features</vt:lpstr>
      <vt:lpstr>Application Features</vt:lpstr>
      <vt:lpstr>Outcomes</vt:lpstr>
      <vt:lpstr>Limitations</vt:lpstr>
      <vt:lpstr>Future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Ahmed</dc:creator>
  <cp:lastModifiedBy>Mohammed Ahmed</cp:lastModifiedBy>
  <cp:revision>10</cp:revision>
  <dcterms:created xsi:type="dcterms:W3CDTF">2026-04-28T01:52:47Z</dcterms:created>
  <dcterms:modified xsi:type="dcterms:W3CDTF">2026-04-28T03:53:43Z</dcterms:modified>
</cp:coreProperties>
</file>